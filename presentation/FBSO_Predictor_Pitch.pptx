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strong. Single sentence: 'We built a tool that predicts what the opposing setter will call — before the ball is swung — based on the same patterns your scouts already watch for.' Hold the title for 5–8 seconds. Don't over-explain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'why now'. The window between rallies is short. Even the best coach can't simultaneously read score, rotation, streak, AND recall a film-study note. We close that gap with the same kind of pattern recognition the brain does — just faster and over more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flow left to right. Emphasize: 'You don't change anything about how you scout — we read what the scout is already typing into DataVolley. The model adds a second voice in the room.'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slide. The 'big 33' is the answer to 'but who?'. We have a per-opponent model for nearly every team you'll face this season. Each one learns that team's specific tendencies — not a one-size-fits-all model. The ensemble (BiLSTM + GBM) is the same kind of stack used by pro analytics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'how does this fit our existing process' worry. Live mode = zero workflow change. Manual mode = anyone can use it without a scout. Latency point matters: it's local, not in the cloud — no internet dependency in the gym.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asks. Make it small: one match, five minutes, one signature. Address the two real objections coaches will have: (a) 'I don't want a computer telling me what to do' — emphasize advisory, the coach calls the play. (b) 'Compliance / privacy' — emphasize local-only, no uploads, no player PII.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tagline. Offer the demo NOW — 'I have it open on my laptop right now if you want to see one rally.' That's the close. Don't leave the room without a concrete next step (pilot match date, intro to scout team, or follow-up meeting).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9144000" y="731520"/>
            <a:ext cx="1152144" cy="640080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0" y="1371600"/>
            <a:ext cx="1792224" cy="256031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96144" y="731520"/>
            <a:ext cx="640080" cy="896111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912096" y="731520"/>
            <a:ext cx="384048" cy="1792224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912096" y="1627631"/>
            <a:ext cx="1024128" cy="896113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36224" y="1627631"/>
            <a:ext cx="384048" cy="1024129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12096" y="2523744"/>
            <a:ext cx="1408176" cy="128016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913572" y="1141172"/>
            <a:ext cx="460856" cy="46085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80930" y="616306"/>
            <a:ext cx="230428" cy="230428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21010" y="1512417"/>
            <a:ext cx="230428" cy="23042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35287" y="2446935"/>
            <a:ext cx="153618" cy="153618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43463" y="2574951"/>
            <a:ext cx="153618" cy="15361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4CC9F0"/>
                </a:solidFill>
                <a:latin typeface="Helvetica"/>
              </a:rPr>
              <a:t>FBSO Predictor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E8ECF1"/>
                </a:solidFill>
                <a:latin typeface="Helvetica"/>
              </a:rPr>
              <a:t>AI that reads their setter — before the swing.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8892A2"/>
                </a:solidFill>
                <a:latin typeface="Helvetica"/>
              </a:rPr>
              <a:t>First-Ball Side-Out scouting, live on the bench.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D00"/>
                </a:solidFill>
                <a:latin typeface="Helvetica"/>
              </a:rPr>
              <a:t>UC San Diego Volleyball  ·  Triton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CC9F0"/>
                </a:solidFill>
                <a:latin typeface="Helvetica"/>
              </a:rPr>
              <a:t>The 20-second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892A2"/>
                </a:solidFill>
                <a:latin typeface="Helvetica"/>
              </a:rPr>
              <a:t>Between every rally, the coach has one job: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8ECF1"/>
                </a:solidFill>
                <a:latin typeface="Helvetica"/>
              </a:rPr>
              <a:t>Call the right defense for the next swing.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611880" cy="2743200"/>
          </a:xfrm>
          <a:prstGeom prst="roundRect">
            <a:avLst/>
          </a:prstGeom>
          <a:solidFill>
            <a:srgbClr val="161920"/>
          </a:solidFill>
          <a:ln w="9144">
            <a:solidFill>
              <a:srgbClr val="1E2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892A2"/>
                </a:solidFill>
                <a:latin typeface="Helvetica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CF1"/>
                </a:solidFill>
                <a:latin typeface="Helvetica"/>
              </a:rPr>
              <a:t>Film study +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Pre-match notes. A guess on every rally. Easy to read the obvious setter; hard to read late-set or out-of-system.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108960"/>
            <a:ext cx="3611880" cy="2743200"/>
          </a:xfrm>
          <a:prstGeom prst="roundRect">
            <a:avLst/>
          </a:prstGeom>
          <a:solidFill>
            <a:srgbClr val="161920"/>
          </a:solidFill>
          <a:ln w="9144">
            <a:solidFill>
              <a:srgbClr val="1E2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4290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892A2"/>
                </a:solidFill>
                <a:latin typeface="Helvetica"/>
              </a:rPr>
              <a:t>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84048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CF1"/>
                </a:solidFill>
                <a:latin typeface="Helvetica"/>
              </a:rPr>
              <a:t>15–30 seconds per rally.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8006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Not enough time to look up tendencies by rotation, score, recent pattern — even when you know exactly what to 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611880" cy="2743200"/>
          </a:xfrm>
          <a:prstGeom prst="roundRect">
            <a:avLst/>
          </a:prstGeom>
          <a:solidFill>
            <a:srgbClr val="161920"/>
          </a:solidFill>
          <a:ln w="9144">
            <a:solidFill>
              <a:srgbClr val="1E2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4290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892A2"/>
                </a:solidFill>
                <a:latin typeface="Helvetica"/>
              </a:rPr>
              <a:t>THE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84048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CF1"/>
                </a:solidFill>
                <a:latin typeface="Helvetica"/>
              </a:rPr>
              <a:t>Predictable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006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Setters lean on their best hitters under pressure. Streaks, score state, rotation, and recent calls all shift the odds — measurably.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0515600" y="320040"/>
            <a:ext cx="740664" cy="411480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0" y="731520"/>
            <a:ext cx="1152144" cy="164592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56264" y="320040"/>
            <a:ext cx="411480" cy="576072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009376" y="320040"/>
            <a:ext cx="246888" cy="1152144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009376" y="896112"/>
            <a:ext cx="658368" cy="576072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67744" y="896112"/>
            <a:ext cx="246888" cy="658368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009376" y="1472184"/>
            <a:ext cx="905256" cy="82296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367468" y="583388"/>
            <a:ext cx="296264" cy="29626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82198" y="245974"/>
            <a:ext cx="148132" cy="148132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93678" y="822046"/>
            <a:ext cx="148132" cy="148132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59999" y="1422807"/>
            <a:ext cx="98754" cy="98754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65255" y="1505103"/>
            <a:ext cx="98754" cy="9875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CC9F0"/>
                </a:solidFill>
                <a:latin typeface="Helvetica"/>
              </a:rPr>
              <a:t>What it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892A2"/>
                </a:solidFill>
                <a:latin typeface="Helvetica"/>
              </a:rPr>
              <a:t>Bench-side, one second after their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377440"/>
            <a:ext cx="3291840" cy="1828800"/>
          </a:xfrm>
          <a:prstGeom prst="roundRect">
            <a:avLst/>
          </a:prstGeom>
          <a:solidFill>
            <a:srgbClr val="161920"/>
          </a:solidFill>
          <a:ln w="22860">
            <a:solidFill>
              <a:srgbClr val="1E2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229"/>
                </a:solidFill>
                <a:latin typeface="Helvetica"/>
              </a:rPr>
              <a:t>THEIR RECEPTION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461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CF1"/>
                </a:solidFill>
                <a:latin typeface="Helvetica"/>
              </a:rPr>
              <a:t>Pass + setter ready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377440"/>
            <a:ext cx="3291840" cy="1828800"/>
          </a:xfrm>
          <a:prstGeom prst="roundRect">
            <a:avLst/>
          </a:prstGeom>
          <a:solidFill>
            <a:srgbClr val="161920"/>
          </a:solidFill>
          <a:ln w="2286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C9F0"/>
                </a:solidFill>
                <a:latin typeface="Helvetica"/>
              </a:rPr>
              <a:t>OUR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461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CF1"/>
                </a:solidFill>
                <a:latin typeface="Helvetica"/>
              </a:rPr>
              <a:t>13 features → top-K probabilities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2377440"/>
            <a:ext cx="3291840" cy="1828800"/>
          </a:xfrm>
          <a:prstGeom prst="roundRect">
            <a:avLst/>
          </a:prstGeom>
          <a:solidFill>
            <a:srgbClr val="161920"/>
          </a:solidFill>
          <a:ln w="22860">
            <a:solidFill>
              <a:srgbClr val="FFC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743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D00"/>
                </a:solidFill>
                <a:latin typeface="Helvetica"/>
              </a:rPr>
              <a:t>YOUR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461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CF1"/>
                </a:solidFill>
                <a:latin typeface="Helvetica"/>
              </a:rPr>
              <a:t>Block alignment + defensive set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858768" y="3200400"/>
            <a:ext cx="374904" cy="365760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562088" y="3200400"/>
            <a:ext cx="374904" cy="365760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892A2"/>
                </a:solidFill>
                <a:latin typeface="Helvetica"/>
              </a:rPr>
              <a:t>WHAT THE BENCH SEES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7315200" cy="411480"/>
          </a:xfrm>
          <a:prstGeom prst="roundRect">
            <a:avLst/>
          </a:prstGeom>
          <a:solidFill>
            <a:srgbClr val="1E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029200"/>
            <a:ext cx="4535424" cy="411480"/>
          </a:xfrm>
          <a:prstGeom prst="round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CF1"/>
                </a:solidFill>
                <a:latin typeface="Helvetica"/>
              </a:rPr>
              <a:t>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029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CC9F0"/>
                </a:solidFill>
                <a:latin typeface="Helvetica"/>
              </a:rPr>
              <a:t>62%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32120"/>
            <a:ext cx="7315200" cy="411480"/>
          </a:xfrm>
          <a:prstGeom prst="roundRect">
            <a:avLst/>
          </a:prstGeom>
          <a:solidFill>
            <a:srgbClr val="1E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5532120"/>
            <a:ext cx="2340864" cy="411480"/>
          </a:xfrm>
          <a:prstGeom prst="roundRect">
            <a:avLst/>
          </a:prstGeom>
          <a:solidFill>
            <a:srgbClr val="889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321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CF1"/>
                </a:solidFill>
                <a:latin typeface="Helvetica"/>
              </a:rPr>
              <a:t>Front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53212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892A2"/>
                </a:solidFill>
                <a:latin typeface="Helvetica"/>
              </a:rPr>
              <a:t>32%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035040"/>
            <a:ext cx="7315200" cy="411480"/>
          </a:xfrm>
          <a:prstGeom prst="roundRect">
            <a:avLst/>
          </a:prstGeom>
          <a:solidFill>
            <a:srgbClr val="1E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6035040"/>
            <a:ext cx="438912" cy="411480"/>
          </a:xfrm>
          <a:prstGeom prst="roundRect">
            <a:avLst/>
          </a:prstGeom>
          <a:solidFill>
            <a:srgbClr val="889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350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CF1"/>
                </a:solidFill>
                <a:latin typeface="Helvetica"/>
              </a:rPr>
              <a:t>Middle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60350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892A2"/>
                </a:solidFill>
                <a:latin typeface="Helvetica"/>
              </a:rPr>
              <a:t>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892A2"/>
                </a:solidFill>
                <a:latin typeface="Helvetica"/>
              </a:rPr>
              <a:t>ONE-SECOND 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48640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CF1"/>
                </a:solidFill>
                <a:latin typeface="Helvetica"/>
              </a:rPr>
              <a:t>Live, on a courtside laptop. No cloud round-trip.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0058400" y="365760"/>
            <a:ext cx="822960" cy="45720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0" y="822960"/>
            <a:ext cx="1280160" cy="18288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81360" y="365760"/>
            <a:ext cx="457200" cy="64008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607040" y="365760"/>
            <a:ext cx="274320" cy="128016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1005840"/>
            <a:ext cx="731520" cy="64008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338560" y="1005840"/>
            <a:ext cx="274320" cy="73152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07040" y="1645920"/>
            <a:ext cx="1005840" cy="91440"/>
          </a:xfrm>
          <a:prstGeom prst="line">
            <a:avLst/>
          </a:prstGeom>
          <a:ln w="10972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893808" y="658368"/>
            <a:ext cx="329184" cy="32918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99064" y="283464"/>
            <a:ext cx="164592" cy="164592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56264" y="923544"/>
            <a:ext cx="164592" cy="164592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2176" y="1591056"/>
            <a:ext cx="109728" cy="109728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58016" y="1682496"/>
            <a:ext cx="109728" cy="10972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CC9F0"/>
                </a:solidFill>
                <a:latin typeface="Helvetica"/>
              </a:rPr>
              <a:t>Built on real opponents — not theory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FF6EC7"/>
                </a:solidFill>
                <a:latin typeface="Helvetica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CF1"/>
                </a:solidFill>
                <a:latin typeface="Helvetica"/>
              </a:rPr>
              <a:t>opponent-specific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892A2"/>
                </a:solidFill>
                <a:latin typeface="Helvetica"/>
              </a:rPr>
              <a:t>Each team has its own model trained on its own attacks. What they call after a perfect pass is different from what they call after a scramble.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554480"/>
            <a:ext cx="7498079" cy="4297680"/>
          </a:xfrm>
          <a:prstGeom prst="roundRect">
            <a:avLst/>
          </a:prstGeom>
          <a:solidFill>
            <a:srgbClr val="161920"/>
          </a:solidFill>
          <a:ln w="9144">
            <a:solidFill>
              <a:srgbClr val="1E2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828800"/>
            <a:ext cx="6766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C9F0"/>
                </a:solidFill>
                <a:latin typeface="Helvetica"/>
              </a:rPr>
              <a:t>BIG WEST + WCC OPPONENTS 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377440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Cal Poly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2377440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Long Beach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377440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Cal State Northridge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2377440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UC Davis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61488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UC Irvine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2761488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UC Riverside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761488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UC Santa Barbara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19" y="2761488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Hawaii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145536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CSU Bakersfield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39" y="3145536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Stanford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145536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UC Berkeley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19" y="3145536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UCLA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529584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Pepperdine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39" y="3529584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U. San Diego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529584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CF1"/>
                </a:solidFill>
                <a:latin typeface="Helvetica"/>
              </a:rPr>
              <a:t>▸  U. Pacific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3529584"/>
            <a:ext cx="160019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CD00"/>
                </a:solidFill>
                <a:latin typeface="Helvetica"/>
              </a:rPr>
              <a:t>›  + 18 more teams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074920"/>
            <a:ext cx="6766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CC9F0"/>
                </a:solidFill>
                <a:latin typeface="Helvetica"/>
              </a:rPr>
              <a:t>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440680"/>
            <a:ext cx="6766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BiLSTM + Gradient Boosting ensemble  ·  4 attack zones: Front / Middle / Back / Pipe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CC9F0"/>
                </a:solidFill>
                <a:latin typeface="Helvetica"/>
              </a:rPr>
              <a:t>Bench-ready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892A2"/>
                </a:solidFill>
                <a:latin typeface="Helvetica"/>
              </a:rPr>
              <a:t>Two ways to drive the prediction — both available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40680" cy="3657600"/>
          </a:xfrm>
          <a:prstGeom prst="roundRect">
            <a:avLst/>
          </a:prstGeom>
          <a:solidFill>
            <a:srgbClr val="161920"/>
          </a:solidFill>
          <a:ln w="27432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CC9F0"/>
                </a:solidFill>
                <a:latin typeface="Helvetica"/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CF1"/>
                </a:solidFill>
                <a:latin typeface="Helvetica"/>
              </a:rPr>
              <a:t>Reads your scout in real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892A2"/>
                </a:solidFill>
                <a:latin typeface="Helvetica"/>
              </a:rPr>
              <a:t>Tail the DataVolley file your stats team already writes. Each opponent reception fires a fresh prediction in under one second. Coach watches the bar chart move; never types anything.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5440680" cy="3657600"/>
          </a:xfrm>
          <a:prstGeom prst="roundRect">
            <a:avLst/>
          </a:prstGeom>
          <a:solidFill>
            <a:srgbClr val="161920"/>
          </a:solidFill>
          <a:ln w="27432">
            <a:solidFill>
              <a:srgbClr val="FF6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65176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EC7"/>
                </a:solidFill>
                <a:latin typeface="Helvetica"/>
              </a:rPr>
              <a:t>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108960"/>
            <a:ext cx="4526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8ECF1"/>
                </a:solidFill>
                <a:latin typeface="Helvetica"/>
              </a:rPr>
              <a:t>Type the situation. Get the 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297680"/>
            <a:ext cx="4526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892A2"/>
                </a:solidFill>
                <a:latin typeface="Helvetica"/>
              </a:rPr>
              <a:t>No scout running? Coach or assistant clicks dropdowns: score, rotation, last 5 attacks. Predict. Use it in timeouts, pre-match prep, or as a teaching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CC71"/>
                </a:solidFill>
                <a:latin typeface="Helvetica"/>
              </a:rPr>
              <a:t>⚡  &lt; 1 sec /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126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CC71"/>
                </a:solidFill>
                <a:latin typeface="Helvetica"/>
              </a:rPr>
              <a:t>💻  Runs on the bench 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6126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CC71"/>
                </a:solidFill>
                <a:latin typeface="Helvetica"/>
              </a:rPr>
              <a:t>🔒  No video upload. Local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0424160" y="502920"/>
            <a:ext cx="740664" cy="411480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424160" y="914400"/>
            <a:ext cx="1152144" cy="164592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64824" y="502920"/>
            <a:ext cx="411480" cy="576072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917936" y="502920"/>
            <a:ext cx="246888" cy="1152144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917936" y="1078992"/>
            <a:ext cx="658368" cy="576072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76304" y="1078992"/>
            <a:ext cx="246888" cy="658368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17936" y="1655064"/>
            <a:ext cx="905256" cy="82296"/>
          </a:xfrm>
          <a:prstGeom prst="line">
            <a:avLst/>
          </a:prstGeom>
          <a:ln w="9874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276028" y="766268"/>
            <a:ext cx="296264" cy="29626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90758" y="428854"/>
            <a:ext cx="148132" cy="148132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02238" y="1004926"/>
            <a:ext cx="148132" cy="148132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68559" y="1605687"/>
            <a:ext cx="98754" cy="98754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73815" y="1687983"/>
            <a:ext cx="98754" cy="98754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CC9F0"/>
                </a:solidFill>
                <a:latin typeface="Helvetica"/>
              </a:rPr>
              <a:t>What we need from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892A2"/>
                </a:solidFill>
                <a:latin typeface="Helvetica"/>
              </a:rPr>
              <a:t>To pilot this in the spring season.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94560"/>
            <a:ext cx="3611880" cy="3657600"/>
          </a:xfrm>
          <a:prstGeom prst="roundRect">
            <a:avLst/>
          </a:prstGeom>
          <a:solidFill>
            <a:srgbClr val="161920"/>
          </a:solidFill>
          <a:ln w="18288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51460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6EC7"/>
                </a:solidFill>
                <a:latin typeface="Helvetic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CF1"/>
                </a:solidFill>
                <a:latin typeface="Helvetica"/>
              </a:rPr>
              <a:t>One pilot match.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Pick a Big West opponent we already have a model for. Park the laptop next to the scout. Use it on side-out defense calls. Compare your bench notes after the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194560"/>
            <a:ext cx="3611880" cy="3657600"/>
          </a:xfrm>
          <a:prstGeom prst="roundRect">
            <a:avLst/>
          </a:prstGeom>
          <a:solidFill>
            <a:srgbClr val="161920"/>
          </a:solidFill>
          <a:ln w="18288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51460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6EC7"/>
                </a:solidFill>
                <a:latin typeface="Helvetic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6118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CF1"/>
                </a:solidFill>
                <a:latin typeface="Helvetica"/>
              </a:rPr>
              <a:t>Scout team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634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Five minutes of your DataVolley operator's time to point us at their safety-file location. Zero workflow change for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194560"/>
            <a:ext cx="3611880" cy="3657600"/>
          </a:xfrm>
          <a:prstGeom prst="roundRect">
            <a:avLst/>
          </a:prstGeom>
          <a:solidFill>
            <a:srgbClr val="161920"/>
          </a:solidFill>
          <a:ln w="18288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51460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6EC7"/>
                </a:solidFill>
                <a:latin typeface="Helvetic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61188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CF1"/>
                </a:solidFill>
                <a:latin typeface="Helvetica"/>
              </a:rPr>
              <a:t>Athletic dept sign-off.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6634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2A2"/>
                </a:solidFill>
                <a:latin typeface="Helvetica"/>
              </a:rPr>
              <a:t>A green light to use it during competition. We've designed it to be a passive advisor — coach decisions stay coach decisions.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892A2"/>
                </a:solidFill>
                <a:latin typeface="Helvetica"/>
              </a:rPr>
              <a:t>Designed to advise — not replace. No player data leaves the laptop. No video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914400" y="274320"/>
            <a:ext cx="1152144" cy="640080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914400"/>
            <a:ext cx="1792224" cy="256031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66544" y="274320"/>
            <a:ext cx="640080" cy="896111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682496" y="274320"/>
            <a:ext cx="384048" cy="1792224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82496" y="1170431"/>
            <a:ext cx="1024128" cy="896113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06624" y="1170431"/>
            <a:ext cx="384048" cy="1024129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82496" y="2066544"/>
            <a:ext cx="1408176" cy="128016"/>
          </a:xfrm>
          <a:prstGeom prst="line">
            <a:avLst/>
          </a:prstGeom>
          <a:ln w="15360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3972" y="683972"/>
            <a:ext cx="460856" cy="46085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1330" y="159106"/>
            <a:ext cx="230428" cy="230428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91410" y="1055217"/>
            <a:ext cx="230428" cy="23042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5687" y="1989735"/>
            <a:ext cx="153618" cy="153618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13863" y="2117751"/>
            <a:ext cx="153618" cy="15361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10058400" y="4480560"/>
            <a:ext cx="987552" cy="548640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400" y="5029200"/>
            <a:ext cx="1536192" cy="219456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45952" y="4480560"/>
            <a:ext cx="548640" cy="768096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716768" y="4480560"/>
            <a:ext cx="329184" cy="1536192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716768" y="5248656"/>
            <a:ext cx="877824" cy="768096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594592" y="5248656"/>
            <a:ext cx="329184" cy="877824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16768" y="6016752"/>
            <a:ext cx="1207008" cy="109728"/>
          </a:xfrm>
          <a:prstGeom prst="line">
            <a:avLst/>
          </a:prstGeom>
          <a:ln w="13166">
            <a:solidFill>
              <a:srgbClr val="4CC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860890" y="4831690"/>
            <a:ext cx="395020" cy="39502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47197" y="4381805"/>
            <a:ext cx="197510" cy="197510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95837" y="5149901"/>
            <a:ext cx="197510" cy="19751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50932" y="5950916"/>
            <a:ext cx="131672" cy="131672"/>
          </a:xfrm>
          <a:prstGeom prst="ellipse">
            <a:avLst/>
          </a:prstGeom>
          <a:solidFill>
            <a:srgbClr val="FF6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57940" y="6060644"/>
            <a:ext cx="131672" cy="131672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237744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4CC9F0"/>
                </a:solidFill>
                <a:latin typeface="Helvetica"/>
              </a:rPr>
              <a:t>Predict the swing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4CC9F0"/>
                </a:solidFill>
                <a:latin typeface="Helvetica"/>
              </a:rPr>
              <a:t>before it happens.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E8ECF1"/>
                </a:solidFill>
                <a:latin typeface="Helvetica"/>
              </a:rPr>
              <a:t>Ready to demo on a laptop today.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D00"/>
                </a:solidFill>
                <a:latin typeface="Helvetica"/>
              </a:rPr>
              <a:t>Karsten Lowe  ·  kjlowe@ucsd.edu  ·  UCSD Triton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92A2"/>
                </a:solidFill>
                <a:latin typeface="Helvetica"/>
              </a:rPr>
              <a:t>FBSO Predictor · UCSD Triton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2A2"/>
                </a:solidFill>
                <a:latin typeface="Helvetica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